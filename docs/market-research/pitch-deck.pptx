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73152" cy="1645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NeuralMind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66CC"/>
                </a:solidFill>
                <a:latin typeface="Calibri"/>
              </a:defRPr>
            </a:pPr>
            <a:r>
              <a:t>Local-First Graph Intelligence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Privacy-preserving AI that indexes your codebase — no code leaves your premise.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Corporate Pitch Deck —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Confidential — For Investor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99"/>
                </a:solidFill>
                <a:latin typeface="Calibr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Cloud AI Creates New Risks for Engineering Orgs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The shift to cloud AI coding assistants introduces critical vulnerabilities: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4864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Calibri"/>
              </a:defRPr>
            </a:pPr>
            <a:r>
              <a:t>Data Sovereignty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Source code sent to third-party APIs — violating compliance requirements (SOC2, HIPAA, ITAR).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54864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Calibri"/>
              </a:defRPr>
            </a:pPr>
            <a:r>
              <a:t>Cost Escalation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Cloud AI pricing at $19–39/user/mo scales linearly — a 500-engineer org faces $1.5M+/yr in API costs.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54864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Calibri"/>
              </a:defRPr>
            </a:pPr>
            <a:r>
              <a:t>Vendor Lock-in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478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Proprietary models and formats create switching costs; code intelligence is trapped in one ecosystem.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54864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Calibri"/>
              </a:defRPr>
            </a:pPr>
            <a:r>
              <a:t>Project Failure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2511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40% of AI projects will be cancelled by 2027 due to data governance and cost (Gartner).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46320"/>
            <a:ext cx="54864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Calibri"/>
              </a:defRPr>
            </a:pPr>
            <a:r>
              <a:t>Knowledge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0235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When engineers leave, cloud AI context leaves with them — no persistent institutional memory.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99"/>
                </a:solidFill>
                <a:latin typeface="Calibri"/>
              </a:defRPr>
            </a:pPr>
            <a:r>
              <a:t>NeuralMind —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99"/>
                </a:solidFill>
                <a:latin typeface="Calibr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NeuralMind: Graph Intelligence That Never Leaves Your Premise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Local-first architecture with semantic graph indexing — AI that works for you, not your cloud provider.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303520" cy="36576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Engineering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▸  On-device graph indexing — zero code egress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▸  Semantic search across 8000+ node codebases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7121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▸  Self-documenting via synapse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5526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▸  Multi-language: Python, TS, Go, Rust, Java, C/C++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3931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▸  IDE-agnostic via MCP protocol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5303520" cy="36576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Business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▸  Engineering productivity metrics via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8716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▸  Code knowledge persists through turnover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7121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▸  Reduced onboarding time for new engineers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5526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▸  Compliance: full data sovereignty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3931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▸  Lower TCO vs cloud AI (no per-token API costs)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99"/>
                </a:solidFill>
                <a:latin typeface="Calibri"/>
              </a:defRPr>
            </a:pPr>
            <a:r>
              <a:t>NeuralMind —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99"/>
                </a:solidFill>
                <a:latin typeface="Calibr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 $7.65B Market Growing to $22.2B by 2030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200400" cy="137160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32004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6CC"/>
                </a:solidFill>
                <a:latin typeface="Calibri"/>
              </a:defRPr>
            </a:pPr>
            <a:r>
              <a:t>$7.65B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2025 Market Size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200400" cy="137160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20040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25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CAF50"/>
                </a:solidFill>
                <a:latin typeface="Calibri"/>
              </a:defRPr>
            </a:pPr>
            <a:r>
              <a:t>$22.2B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2030 Projected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188720"/>
            <a:ext cx="3200400" cy="137160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20040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325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107"/>
                </a:solidFill>
                <a:latin typeface="Calibri"/>
              </a:defRPr>
            </a:pPr>
            <a:r>
              <a:t>23.8%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920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34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Market Dynamics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91840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 Cloud dominates at 72.5% of market — but on-prem growing faster at 26.6% CAGR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75888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 Enterprise AI market already $24.0B in 2024 — code generation is 41% of use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59936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 91% of developers already use AI coding tools — switching costs are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43984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 Gartner: 75% of developers will use AI coding assistants by 2028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28032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 Privacy regulations (GDPR, state laws) accelerating on-prem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99"/>
                </a:solidFill>
                <a:latin typeface="Calibri"/>
              </a:defRPr>
            </a:pPr>
            <a:r>
              <a:t>NeuralMind —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99"/>
                </a:solidFill>
                <a:latin typeface="Calibr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Graph Intelligence: How NeuralMind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 semantic graph of your codebase — built locally, queried intelligently, always up to date.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560320" cy="320040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560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CC"/>
                </a:solidFill>
                <a:latin typeface="Calibri"/>
              </a:defRPr>
            </a:pPr>
            <a:r>
              <a:t>1. 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Multi-language graph parsing via tree-sitter/SCIP</a:t>
            </a:r>
            <a:br/>
            <a:r>
              <a:t>8000+ node capacity, incremental updates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45920"/>
            <a:ext cx="2560320" cy="320040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645920"/>
            <a:ext cx="2560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CC"/>
                </a:solidFill>
                <a:latin typeface="Calibri"/>
              </a:defRPr>
            </a:pPr>
            <a:r>
              <a:t>2.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860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Pluggable vector backends</a:t>
            </a:r>
            <a:br/>
            <a:r>
              <a:t>ChromaDB / TurboVec / custom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2560320" cy="320040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2560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CC"/>
                </a:solidFill>
                <a:latin typeface="Calibri"/>
              </a:defRPr>
            </a:pPr>
            <a:r>
              <a:t>3.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Semantic search + graph traversal</a:t>
            </a:r>
            <a:br/>
            <a:r>
              <a:t>MCP protocol, IDE-agnostic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645920"/>
            <a:ext cx="2560320" cy="320040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645920"/>
            <a:ext cx="2560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CC"/>
                </a:solidFill>
                <a:latin typeface="Calibri"/>
              </a:defRPr>
            </a:pPr>
            <a:r>
              <a:t>4. 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2860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Self-improving synapse layer</a:t>
            </a:r>
            <a:br/>
            <a:r>
              <a:t>Audit trail, knowledge persistence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120640"/>
            <a:ext cx="10515600" cy="4572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Differentiators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Calibri"/>
              </a:defRPr>
            </a:pPr>
            <a:r>
              <a:t>✓ Zero code egress — all processing on-prem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669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Calibri"/>
              </a:defRPr>
            </a:pPr>
            <a:r>
              <a:t>✓ Open architecture — no vendor lock-in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5669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Calibri"/>
              </a:defRPr>
            </a:pPr>
            <a:r>
              <a:t>✓ Self-learning — improves with usage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669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Calibri"/>
              </a:defRPr>
            </a:pPr>
            <a:r>
              <a:t>✓ Enterprise-ready — SSO, RBAC,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99"/>
                </a:solidFill>
                <a:latin typeface="Calibri"/>
              </a:defRPr>
            </a:pPr>
            <a:r>
              <a:t>NeuralMind —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99"/>
                </a:solidFill>
                <a:latin typeface="Calibr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Competitive Landscape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560320"/>
                <a:gridCol w="2560320"/>
                <a:gridCol w="22860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Player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Weakness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Pricing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GitHub Copilot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Cloud 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Largest user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Vendor lock-in, MS dependency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$19-39/user/mo</a:t>
                      </a:r>
                    </a:p>
                  </a:txBody>
                  <a:tcPr anchor="ctr"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Sourcegraph Cody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Enterprise Code Intelligence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Multi-repo, deeply integrated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High cost, sales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~$75K/year platform</a:t>
                      </a:r>
                    </a:p>
                  </a:txBody>
                  <a:tcPr anchor="ctr"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Tabnine Enterprise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On-prem coding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Privacy/air-gapped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Smaller ecosystem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Custom</a:t>
                      </a:r>
                    </a:p>
                  </a:txBody>
                  <a:tcPr anchor="ctr"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AirgapAI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Local-first enterprise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Compliance, SCIF certified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Newer, smaller market share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Custom</a:t>
                      </a:r>
                    </a:p>
                  </a:txBody>
                  <a:tcPr anchor="ctr"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Continue.dev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OSS + Enterprise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Open source, bring own 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Self-managed 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OSS free / Enterprise $20/user/mo</a:t>
                      </a:r>
                    </a:p>
                  </a:txBody>
                  <a:tcPr anchor="ctr"/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6CC"/>
                          </a:solidFill>
                        </a:defRPr>
                      </a:pPr>
                      <a:r>
                        <a:t>NeuralMind</a:t>
                      </a:r>
                    </a:p>
                  </a:txBody>
                  <a:tcPr anchor="ctr"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Local-first Graph Intelligence</a:t>
                      </a:r>
                    </a:p>
                  </a:txBody>
                  <a:tcPr anchor="ctr"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Privacy, no code egress, open architecture</a:t>
                      </a:r>
                    </a:p>
                  </a:txBody>
                  <a:tcPr anchor="ctr"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Smaller community, needs marketing</a:t>
                      </a:r>
                    </a:p>
                  </a:txBody>
                  <a:tcPr anchor="ctr"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CCCCC"/>
                          </a:solidFill>
                        </a:defRPr>
                      </a:pPr>
                      <a:r>
                        <a:t>TBD</a:t>
                      </a:r>
                    </a:p>
                  </a:txBody>
                  <a:tcPr anchor="ctr">
                    <a:solidFill>
                      <a:srgbClr val="2D2D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949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NeuralMind's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6CC"/>
                </a:solidFill>
                <a:latin typeface="Calibri"/>
              </a:defRPr>
            </a:pPr>
            <a:r>
              <a:t>Only local-first, graph-intelligence platform with zero code egress — combining the privacy of on-prem with the intelligence of cloud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99"/>
                </a:solidFill>
                <a:latin typeface="Calibri"/>
              </a:defRPr>
            </a:pPr>
            <a:r>
              <a:t>NeuralMind —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99"/>
                </a:solidFill>
                <a:latin typeface="Calibr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Refactoring Priorities — Engineering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Codebase hardening to support enterprise scale and security requirements.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39319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Effort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Rationale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core.py decomposition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C10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CCCC"/>
                          </a:solidFill>
                        </a:defRPr>
                      </a:pPr>
                      <a:r>
                        <a:t>1811 lines, highest change surface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ir.py modularization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C10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CAF5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CCCC"/>
                          </a:solidFill>
                        </a:defRPr>
                      </a:pPr>
                      <a:r>
                        <a:t>963 lines, clear sub-modules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Remove regex-experiment.py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CAF5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CCCC"/>
                          </a:solidFill>
                        </a:defRPr>
                      </a:pPr>
                      <a:r>
                        <a:t>Dangerous, unrecoverable source mutation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server.py decomposition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CCCC"/>
                          </a:solidFill>
                        </a:defRPr>
                      </a:pPr>
                      <a:r>
                        <a:t>648 lines, mixed concerns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Remove deprecated enable_reranking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88899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CAF5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CCCC"/>
                          </a:solidFill>
                        </a:defRPr>
                      </a:pPr>
                      <a:r>
                        <a:t>Dead attribute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029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Immediate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6CC"/>
                </a:solidFill>
                <a:latin typeface="Calibri"/>
              </a:defRPr>
            </a:pPr>
            <a:r>
              <a:t>Remove regex-experiment.py (dangerous source mutation) → Decompose core.py (1811 lines) → Modularize ir.py (963 lines)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99"/>
                </a:solidFill>
                <a:latin typeface="Calibri"/>
              </a:defRPr>
            </a:pPr>
            <a:r>
              <a:t>NeuralMind —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99"/>
                </a:solidFill>
                <a:latin typeface="Calibr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Land via OSS community, expand through enterprise sales — bottoms-up adoption with top-down expansion.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383280" cy="256032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383280" cy="54864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88899"/>
                </a:solidFill>
                <a:latin typeface="Calibri"/>
              </a:defRPr>
            </a:pPr>
            <a:r>
              <a:t>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Full graph intelligence, community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645920"/>
            <a:ext cx="3383280" cy="256032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645920"/>
            <a:ext cx="338328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$25/user/mo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6060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RBAC, audit trail, SSO, priority support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8" y="1645920"/>
            <a:ext cx="3383280" cy="256032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8" y="1645920"/>
            <a:ext cx="338328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8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8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Custom (from $50K/yr)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8" y="26060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Air-gap, SLA, custom parsers, dedicated CSM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Target Segments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00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Engineering Teams (10-100): Copilot cost escalates, privacy concerns  •  Security-Sensitive (Fintech, Defense): Cannot send code to cloud AI  •  Platform/Infra Teams: Multi-repo complexity, onboarding cost  •  Business/Management: Engineering productivity is a black 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99"/>
                </a:solidFill>
                <a:latin typeface="Calibri"/>
              </a:defRPr>
            </a:pPr>
            <a:r>
              <a:t>NeuralMind —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99"/>
                </a:solidFill>
                <a:latin typeface="Calibr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5-Year Financial Model — Conservative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975104"/>
                <a:gridCol w="1975104"/>
                <a:gridCol w="1975104"/>
                <a:gridCol w="1975104"/>
                <a:gridCol w="1975104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Y1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Y2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Y3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Y4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Y5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$45K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$320K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$950K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$2.4M</a:t>
                      </a:r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$85K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$180K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$380K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$620K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$1.1M</a:t>
                      </a:r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C107"/>
                          </a:solidFill>
                        </a:defRPr>
                      </a:pPr>
                      <a:r>
                        <a:t>-$85K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C107"/>
                          </a:solidFill>
                        </a:defRPr>
                      </a:pPr>
                      <a:r>
                        <a:t>-$135K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C107"/>
                          </a:solidFill>
                        </a:defRPr>
                      </a:pPr>
                      <a:r>
                        <a:t>-$60K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CAF50"/>
                          </a:solidFill>
                        </a:defRPr>
                      </a:pPr>
                      <a:r>
                        <a:t>$330K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CAF50"/>
                          </a:solidFill>
                        </a:defRPr>
                      </a:pPr>
                      <a:r>
                        <a:t>$1.3M</a:t>
                      </a:r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2,000</a:t>
                      </a:r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Paying Teams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/>
                </a:tc>
              </a:tr>
              <a:tr h="52251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OSS Launch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Pilots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Ent. Launch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Category Lead.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6CC"/>
                </a:solidFill>
                <a:latin typeface="Calibri"/>
              </a:defRPr>
            </a:pPr>
            <a:r>
              <a:t>Break-even in Year 4  •  $2.4M revenue by Year 5  •  2,000 users  •  Conservative 23.8% market CAGR 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99"/>
                </a:solidFill>
                <a:latin typeface="Calibri"/>
              </a:defRPr>
            </a:pPr>
            <a:r>
              <a:t>NeuralMind —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99"/>
                </a:solidFill>
                <a:latin typeface="Calibr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Ask — Team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Building the team and infrastructure to capture the $22.2B local-first AI opportunity.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303520" cy="36576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Hiring Plan (Year 1-2)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CC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031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2 senior backend, 1 ML/inference, 1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CC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5146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 product manager, 1 developer advocate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CC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9260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 enterprise AE, 1 SDR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CC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3375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 ops lead, 1 compliance/security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5303520" cy="36576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Use of Funds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Engineering &amp; R&amp;D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103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45% — Core platform, graph intelligence, security hardening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146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Sales &amp; 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5146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25% — Enterprise sales, developer relations, community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26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9260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15% — On-prem deployment tooling, CI/CD, security audits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3375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15% — Legal, compliance, finance, admin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114800"/>
            <a:ext cx="10515600" cy="4572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97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12-Month Milestones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  <a:latin typeface="Calibri"/>
              </a:defRPr>
            </a:pPr>
            <a:r>
              <a:t>◆ OSS launch + 500 GitHub stars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  <a:latin typeface="Calibri"/>
              </a:defRPr>
            </a:pPr>
            <a:r>
              <a:t>◆ 3 enterprise pilot 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  <a:latin typeface="Calibri"/>
              </a:defRPr>
            </a:pPr>
            <a:r>
              <a:t>◆ SOC2 Type I certification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  <a:latin typeface="Calibri"/>
              </a:defRPr>
            </a:pPr>
            <a:r>
              <a:t>◆ Core.py decomposition 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  <a:latin typeface="Calibri"/>
              </a:defRPr>
            </a:pPr>
            <a:r>
              <a:t>◆ $45K ARR from Team tier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NeuralMind — Local-First Graph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035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  <a:latin typeface="Calibri"/>
              </a:defRPr>
            </a:pPr>
            <a:r>
              <a:t>Let's build the future of private, intelligent engineering.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99"/>
                </a:solidFill>
                <a:latin typeface="Calibr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