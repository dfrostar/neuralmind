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2194560"/>
            <a:ext cx="219456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AI Cost Optimization +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520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1">
                <a:solidFill>
                  <a:srgbClr val="7BB3F0"/>
                </a:solidFill>
                <a:latin typeface="Calibri"/>
              </a:rPr>
              <a:t>for Engineering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66C75"/>
                </a:solidFill>
                <a:latin typeface="Calibri"/>
              </a:rPr>
              <a:t>NeuralMind CFO Advisory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035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66C75"/>
                </a:solidFill>
                <a:latin typeface="Calibri"/>
              </a:rPr>
              <a:t>Confidential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1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914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66C75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17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2433"/>
                </a:solidFill>
                <a:latin typeface="Calibri"/>
              </a:rPr>
              <a:t>AI Coding Tools Are Burning Budget Through Context Waste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4A90D9"/>
                </a:solidFill>
                <a:latin typeface="Calibri"/>
              </a:rPr>
              <a:t>$15K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433"/>
                </a:solidFill>
                <a:latin typeface="Calibri"/>
              </a:rPr>
              <a:t>wasted per month — average mid-market engineering 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38912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600"/>
              </a:lnSpc>
            </a:pPr>
            <a:r>
              <a:rPr sz="1400" b="0">
                <a:solidFill>
                  <a:srgbClr val="1A2433"/>
                </a:solidFill>
                <a:latin typeface="Calibri"/>
              </a:rPr>
              <a:t>Every AI re-sends full code context — 5–10× token usage vs. what's actually needed.</a:t>
            </a:r>
          </a:p>
          <a:p>
            <a:pPr algn="l">
              <a:lnSpc>
                <a:spcPts val="600"/>
              </a:lnSpc>
            </a:pPr>
            <a:r>
              <a:rPr sz="1400" b="0">
                <a:solidFill>
                  <a:srgbClr val="1A2433"/>
                </a:solidFill>
                <a:latin typeface="Calibri"/>
              </a:rPr>
              <a:t>No line-item visibility into which teams, languages, or tools burn the most tokens.</a:t>
            </a:r>
          </a:p>
          <a:p>
            <a:pPr algn="l">
              <a:lnSpc>
                <a:spcPts val="600"/>
              </a:lnSpc>
            </a:pPr>
            <a:r>
              <a:rPr sz="1400" b="0">
                <a:solidFill>
                  <a:srgbClr val="1A2433"/>
                </a:solidFill>
                <a:latin typeface="Calibri"/>
              </a:rPr>
              <a:t>Code leaves the org boundary with zero audit trail — a SOC2 / ISO27001 finding waiting to happen.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66C75"/>
                </a:solidFill>
                <a:latin typeface="Calibri"/>
              </a:rPr>
              <a:t>Market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433"/>
                </a:solidFill>
                <a:latin typeface="Calibri"/>
              </a:rPr>
              <a:t>AI adoption is everywhere — cost visibility is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60320"/>
            <a:ext cx="3291840" cy="237744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4A90D9"/>
                </a:solidFill>
                <a:latin typeface="Calibri"/>
              </a:rPr>
              <a:t>91%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2433"/>
                </a:solidFill>
                <a:latin typeface="Calibri"/>
              </a:rPr>
              <a:t>of developers use AI coding tools daily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2560320"/>
            <a:ext cx="3291840" cy="237744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2743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7BB3F0"/>
                </a:solidFill>
                <a:latin typeface="Calibri"/>
              </a:rPr>
              <a:t>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749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2433"/>
                </a:solidFill>
                <a:latin typeface="Calibri"/>
              </a:rPr>
              <a:t>of new code is now AI-generated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80" y="2560320"/>
            <a:ext cx="3291840" cy="237744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2743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4A90D9"/>
                </a:solidFill>
                <a:latin typeface="Calibri"/>
              </a:rPr>
              <a:t>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749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2433"/>
                </a:solidFill>
                <a:latin typeface="Calibri"/>
              </a:rPr>
              <a:t>avg. token cost increase YoY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C75"/>
                </a:solidFill>
                <a:latin typeface="Calibri"/>
              </a:rPr>
              <a:t>Source: Stack Overflow Developer Survey 2024, GitHub Octoverse 2024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66C75"/>
                </a:solidFill>
                <a:latin typeface="Calibri"/>
              </a:rPr>
              <a:t>What NeuralMind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433"/>
                </a:solidFill>
                <a:latin typeface="Calibri"/>
              </a:rPr>
              <a:t>Local-first code intelligence that cuts token spend 40–70×.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530352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86000"/>
            <a:ext cx="5303520" cy="1828800"/>
          </a:xfrm>
          <a:prstGeom prst="rect">
            <a:avLst/>
          </a:prstGeom>
          <a:solidFill>
            <a:srgbClr val="E8F1FE"/>
          </a:solidFill>
          <a:ln w="9525">
            <a:solidFill>
              <a:srgbClr val="D8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23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  <a:latin typeface="Calibri"/>
              </a:rPr>
              <a:t>Air-gapped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Runs entirely on-prem / VPC. Zero code egress. Your source never leaves your perimeter.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286000"/>
            <a:ext cx="530352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286000"/>
            <a:ext cx="5303520" cy="1828800"/>
          </a:xfrm>
          <a:prstGeom prst="rect">
            <a:avLst/>
          </a:prstGeom>
          <a:solidFill>
            <a:srgbClr val="E8F1FE"/>
          </a:solidFill>
          <a:ln w="9525">
            <a:solidFill>
              <a:srgbClr val="D8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423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  <a:latin typeface="Calibri"/>
              </a:rPr>
              <a:t>Context reduction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83464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Synthetic synapses learn what each task actually needs. Inject 500 tokens instead of 50K.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434840"/>
            <a:ext cx="530352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434840"/>
            <a:ext cx="5303520" cy="1828800"/>
          </a:xfrm>
          <a:prstGeom prst="rect">
            <a:avLst/>
          </a:prstGeom>
          <a:solidFill>
            <a:srgbClr val="E8F1FE"/>
          </a:solidFill>
          <a:ln w="9525">
            <a:solidFill>
              <a:srgbClr val="D8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5720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  <a:latin typeface="Calibri"/>
              </a:rPr>
              <a:t>SOC2 audit 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9834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Every AI interaction logged, timestamped, and auditable out of the box.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4434840"/>
            <a:ext cx="530352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4434840"/>
            <a:ext cx="5303520" cy="1828800"/>
          </a:xfrm>
          <a:prstGeom prst="rect">
            <a:avLst/>
          </a:prstGeom>
          <a:solidFill>
            <a:srgbClr val="E8F1FE"/>
          </a:solidFill>
          <a:ln w="9525">
            <a:solidFill>
              <a:srgbClr val="D8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45720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  <a:latin typeface="Calibri"/>
              </a:rPr>
              <a:t>Works with What You Have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9834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433"/>
                </a:solidFill>
                <a:latin typeface="Calibri"/>
              </a:rPr>
              <a:t>Continue using Claude Code, Copilot, Cursor, Windsurf — NeuralMind enhances your existing stack, replacing your API-routed traffic edge.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66C75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433"/>
                </a:solidFill>
                <a:latin typeface="Calibri"/>
              </a:rPr>
              <a:t>Graph-based code search meets a self-learning synapse layer.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286000"/>
            <a:ext cx="640080" cy="6400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063240"/>
            <a:ext cx="5303520" cy="1371600"/>
          </a:xfrm>
          <a:prstGeom prst="rect">
            <a:avLst/>
          </a:prstGeom>
          <a:solidFill>
            <a:srgbClr val="E8F1FE"/>
          </a:solidFill>
          <a:ln w="9525">
            <a:solidFill>
              <a:srgbClr val="D8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108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  <a:latin typeface="Calibri"/>
              </a:rPr>
              <a:t>1. 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74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NeuralMind builds a private, incremental code graph of your repos — functions, types, imports, history.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0" y="2286000"/>
            <a:ext cx="640080" cy="6400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3063240"/>
            <a:ext cx="5303520" cy="1371600"/>
          </a:xfrm>
          <a:prstGeom prst="rect">
            <a:avLst/>
          </a:prstGeom>
          <a:solidFill>
            <a:srgbClr val="E8F1FE"/>
          </a:solidFill>
          <a:ln w="9525">
            <a:solidFill>
              <a:srgbClr val="D8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108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  <a:latin typeface="Calibri"/>
              </a:rPr>
              <a:t>2. Query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474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Your AI tool asks what it needs. Synapse layer matches the query against the graph. No re-sending context.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434840"/>
            <a:ext cx="640080" cy="6400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212080"/>
            <a:ext cx="5303520" cy="1371600"/>
          </a:xfrm>
          <a:prstGeom prst="rect">
            <a:avLst/>
          </a:prstGeom>
          <a:solidFill>
            <a:srgbClr val="E8F1FE"/>
          </a:solidFill>
          <a:ln w="9525">
            <a:solidFill>
              <a:srgbClr val="D8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257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  <a:latin typeface="Calibri"/>
              </a:rPr>
              <a:t>3. Inject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623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Only the relevant 200–1,000 tokens get sent to your AI — never the whole repo or conversation history.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4434840"/>
            <a:ext cx="640080" cy="6400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43484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212080"/>
            <a:ext cx="5303520" cy="1371600"/>
          </a:xfrm>
          <a:prstGeom prst="rect">
            <a:avLst/>
          </a:prstGeom>
          <a:solidFill>
            <a:srgbClr val="E8F1FE"/>
          </a:solidFill>
          <a:ln w="9525">
            <a:solidFill>
              <a:srgbClr val="D8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5257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  <a:latin typeface="Calibri"/>
              </a:rPr>
              <a:t>4. Learn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623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Feedback loop: every correction the developer makes teaches the synapse layer to get smarter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66C75"/>
                </a:solidFill>
                <a:latin typeface="Calibri"/>
              </a:rPr>
              <a:t>Engagement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433"/>
                </a:solidFill>
                <a:latin typeface="Calibri"/>
              </a:rPr>
              <a:t>Pick the depth that fits your stage.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3383280" cy="3291840"/>
          </a:xfrm>
          <a:prstGeom prst="rect">
            <a:avLst/>
          </a:prstGeom>
          <a:solidFill>
            <a:srgbClr val="E8F1FE"/>
          </a:solidFill>
          <a:ln w="9525">
            <a:solidFill>
              <a:srgbClr val="D8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433"/>
                </a:solidFill>
                <a:latin typeface="Calibri"/>
              </a:rPr>
              <a:t>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4A90D9"/>
                </a:solidFill>
                <a:latin typeface="Calibri"/>
              </a:rPr>
              <a:t>$35K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337560"/>
            <a:ext cx="2834640" cy="9525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88720" y="3611880"/>
            <a:ext cx="109728" cy="109728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35661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Workspace audit &amp; token-spend baseline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4114800"/>
            <a:ext cx="109728" cy="109728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40690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Compliance gap report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4617720"/>
            <a:ext cx="109728" cy="109728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57200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90-day roadmap with ROI projection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6280" y="2286000"/>
            <a:ext cx="3383280" cy="3291840"/>
          </a:xfrm>
          <a:prstGeom prst="rect">
            <a:avLst/>
          </a:prstGeom>
          <a:solidFill>
            <a:srgbClr val="1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834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7BB3F0"/>
                </a:solidFill>
                <a:latin typeface="Calibri"/>
              </a:rPr>
              <a:t>$55K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3337560"/>
            <a:ext cx="2834640" cy="9525"/>
          </a:xfrm>
          <a:prstGeom prst="rect">
            <a:avLst/>
          </a:prstGeom>
          <a:solidFill>
            <a:srgbClr val="66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00600" y="3611880"/>
            <a:ext cx="109728" cy="109728"/>
          </a:xfrm>
          <a:prstGeom prst="ellipse">
            <a:avLst/>
          </a:prstGeom>
          <a:solidFill>
            <a:srgbClr val="7BB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35661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Full NeuralMind deployment (1 team)</a:t>
            </a:r>
          </a:p>
        </p:txBody>
      </p:sp>
      <p:sp>
        <p:nvSpPr>
          <p:cNvPr id="21" name="Oval 20"/>
          <p:cNvSpPr/>
          <p:nvPr/>
        </p:nvSpPr>
        <p:spPr>
          <a:xfrm>
            <a:off x="4800600" y="4114800"/>
            <a:ext cx="109728" cy="109728"/>
          </a:xfrm>
          <a:prstGeom prst="ellipse">
            <a:avLst/>
          </a:prstGeom>
          <a:solidFill>
            <a:srgbClr val="7BB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40690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Custom synapse layer tuning</a:t>
            </a:r>
          </a:p>
        </p:txBody>
      </p:sp>
      <p:sp>
        <p:nvSpPr>
          <p:cNvPr id="23" name="Oval 22"/>
          <p:cNvSpPr/>
          <p:nvPr/>
        </p:nvSpPr>
        <p:spPr>
          <a:xfrm>
            <a:off x="4800600" y="4617720"/>
            <a:ext cx="109728" cy="109728"/>
          </a:xfrm>
          <a:prstGeom prst="ellipse">
            <a:avLst/>
          </a:prstGeom>
          <a:solidFill>
            <a:srgbClr val="7BB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457200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Cutover plan + success metrics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2286000"/>
            <a:ext cx="3383280" cy="3291840"/>
          </a:xfrm>
          <a:prstGeom prst="rect">
            <a:avLst/>
          </a:prstGeom>
          <a:solidFill>
            <a:srgbClr val="E8F1FE"/>
          </a:solidFill>
          <a:ln w="9525">
            <a:solidFill>
              <a:srgbClr val="D8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433"/>
                </a:solidFill>
                <a:latin typeface="Calibri"/>
              </a:rPr>
              <a:t>Enterprise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834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4A90D9"/>
                </a:solidFill>
                <a:latin typeface="Calibri"/>
              </a:rPr>
              <a:t>$85K / yr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337560"/>
            <a:ext cx="2834640" cy="9525"/>
          </a:xfrm>
          <a:prstGeom prst="rect">
            <a:avLst/>
          </a:prstGeom>
          <a:solidFill>
            <a:srgbClr val="D8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412480" y="3611880"/>
            <a:ext cx="109728" cy="109728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1080" y="35661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Org-wide deployment &amp; support</a:t>
            </a:r>
          </a:p>
        </p:txBody>
      </p:sp>
      <p:sp>
        <p:nvSpPr>
          <p:cNvPr id="31" name="Oval 30"/>
          <p:cNvSpPr/>
          <p:nvPr/>
        </p:nvSpPr>
        <p:spPr>
          <a:xfrm>
            <a:off x="8412480" y="4114800"/>
            <a:ext cx="109728" cy="109728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40690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SOC2 audit-trail dashboard</a:t>
            </a:r>
          </a:p>
        </p:txBody>
      </p:sp>
      <p:sp>
        <p:nvSpPr>
          <p:cNvPr id="33" name="Oval 32"/>
          <p:cNvSpPr/>
          <p:nvPr/>
        </p:nvSpPr>
        <p:spPr>
          <a:xfrm>
            <a:off x="8412480" y="4617720"/>
            <a:ext cx="109728" cy="109728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41080" y="457200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33"/>
                </a:solidFill>
                <a:latin typeface="Calibri"/>
              </a:rPr>
              <a:t>Quarterly cost-optimization reviews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66C75"/>
                </a:solidFill>
                <a:latin typeface="Calibri"/>
              </a:rPr>
              <a:t>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433"/>
                </a:solidFill>
                <a:latin typeface="Calibri"/>
              </a:rPr>
              <a:t>Before / After NeuralMind — 120-person engineering org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4937760" cy="3840480"/>
          </a:xfrm>
          <a:prstGeom prst="rect">
            <a:avLst/>
          </a:prstGeom>
          <a:solidFill>
            <a:srgbClr val="FFF4F4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3333"/>
                </a:solidFill>
                <a:latin typeface="Calibr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718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33"/>
                </a:solidFill>
                <a:latin typeface="Calibri"/>
              </a:rPr>
              <a:t>Monthly AI spend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18211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C3333"/>
                </a:solidFill>
                <a:latin typeface="Calibri"/>
              </a:rPr>
              <a:t>$42K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C75"/>
                </a:solidFill>
                <a:latin typeface="Calibri"/>
              </a:rPr>
              <a:t>&lt;30-day runway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30168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33"/>
                </a:solidFill>
                <a:latin typeface="Calibri"/>
              </a:rPr>
              <a:t>Token efficiency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8404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C3333"/>
                </a:solidFill>
                <a:latin typeface="Calibri"/>
              </a:rPr>
              <a:t>12%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0416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C75"/>
                </a:solidFill>
                <a:latin typeface="Calibri"/>
              </a:rPr>
              <a:t>of tokens produced useful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8853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33"/>
                </a:solidFill>
                <a:latin typeface="Calibri"/>
              </a:rPr>
              <a:t>Code egress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C3333"/>
                </a:solidFill>
                <a:latin typeface="Calibri"/>
              </a:rPr>
              <a:t>Yes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700016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C75"/>
                </a:solidFill>
                <a:latin typeface="Calibri"/>
              </a:rPr>
              <a:t>source leaves build env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946904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33"/>
                </a:solidFill>
                <a:latin typeface="Calibri"/>
              </a:rPr>
              <a:t>Audit trail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15721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C3333"/>
                </a:solidFill>
                <a:latin typeface="Calibri"/>
              </a:rPr>
              <a:t>None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286000"/>
            <a:ext cx="4937760" cy="3840480"/>
          </a:xfrm>
          <a:prstGeom prst="rect">
            <a:avLst/>
          </a:prstGeom>
          <a:solidFill>
            <a:srgbClr val="F0FAF0"/>
          </a:solidFill>
          <a:ln w="127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468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  <a:latin typeface="Calibri"/>
              </a:rPr>
              <a:t>AFTER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718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33"/>
                </a:solidFill>
                <a:latin typeface="Calibri"/>
              </a:rPr>
              <a:t>Monthly AI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18211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90D9"/>
                </a:solidFill>
                <a:latin typeface="Calibri"/>
              </a:rPr>
              <a:t>$8K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383280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C75"/>
                </a:solidFill>
                <a:latin typeface="Calibri"/>
              </a:rPr>
              <a:t>81% reduction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630168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33"/>
                </a:solidFill>
                <a:latin typeface="Calibri"/>
              </a:rPr>
              <a:t>Token efficiency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8404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90D9"/>
                </a:solidFill>
                <a:latin typeface="Calibri"/>
              </a:rPr>
              <a:t>94%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0416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C75"/>
                </a:solidFill>
                <a:latin typeface="Calibri"/>
              </a:rPr>
              <a:t>of tokens produced useful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28853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33"/>
                </a:solidFill>
                <a:latin typeface="Calibri"/>
              </a:rPr>
              <a:t>Code egress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90D9"/>
                </a:solidFill>
                <a:latin typeface="Calibri"/>
              </a:rPr>
              <a:t>Zero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00016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C75"/>
                </a:solidFill>
                <a:latin typeface="Calibri"/>
              </a:rPr>
              <a:t>fully air-gapped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946904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33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5721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90D9"/>
                </a:solidFill>
                <a:latin typeface="Calibri"/>
              </a:rPr>
              <a:t>Full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358384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C75"/>
                </a:solidFill>
                <a:latin typeface="Calibri"/>
              </a:rPr>
              <a:t>SOC2 compliant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66C75"/>
                </a:solidFill>
                <a:latin typeface="Calibri"/>
              </a:rPr>
              <a:t>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433"/>
                </a:solidFill>
                <a:latin typeface="Calibri"/>
              </a:rPr>
              <a:t>Lean, focused, and battle-tested.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5029200" cy="36576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88720" y="2560320"/>
            <a:ext cx="822960" cy="8229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560320"/>
            <a:ext cx="822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NR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2560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433"/>
                </a:solidFill>
                <a:latin typeface="Calibri"/>
              </a:rPr>
              <a:t>NeuralMind Solo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926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66C75"/>
                </a:solidFill>
                <a:latin typeface="Calibri"/>
              </a:rPr>
              <a:t>AI Cost Optimization Consultant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5760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600"/>
              </a:lnSpc>
            </a:pPr>
            <a:r>
              <a:rPr sz="1100" b="0">
                <a:solidFill>
                  <a:srgbClr val="1A2433"/>
                </a:solidFill>
                <a:latin typeface="Calibri"/>
              </a:rPr>
              <a:t>10+ years engineering &amp; platform leadership at TSX-listed SaaS</a:t>
            </a:r>
          </a:p>
          <a:p>
            <a:pPr algn="l">
              <a:lnSpc>
                <a:spcPts val="600"/>
              </a:lnSpc>
            </a:pPr>
            <a:r>
              <a:rPr sz="1100" b="0">
                <a:solidFill>
                  <a:srgbClr val="1A2433"/>
                </a:solidFill>
                <a:latin typeface="Calibri"/>
              </a:rPr>
              <a:t>Built NeuralMind from internal tool to production OSS product</a:t>
            </a:r>
          </a:p>
          <a:p>
            <a:pPr algn="l">
              <a:lnSpc>
                <a:spcPts val="600"/>
              </a:lnSpc>
            </a:pPr>
            <a:r>
              <a:rPr sz="1100" b="0">
                <a:solidFill>
                  <a:srgbClr val="1A2433"/>
                </a:solidFill>
                <a:latin typeface="Calibri"/>
              </a:rPr>
              <a:t>"Saved a 200-engineer org $2.4M/yr in AI spend without sacrificing output" — CTO, $400M SaaS client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2286000"/>
            <a:ext cx="5029200" cy="36576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433"/>
                </a:solidFill>
                <a:latin typeface="Calibri"/>
              </a:rPr>
              <a:t>NeuralMind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17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600"/>
              </a:lnSpc>
            </a:pPr>
            <a:r>
              <a:rPr sz="1100" b="0">
                <a:solidFill>
                  <a:srgbClr val="1A2433"/>
                </a:solidFill>
                <a:latin typeface="Calibri"/>
              </a:rPr>
              <a:t>Apache-2.0, self-hosted, full data sovereignty</a:t>
            </a:r>
          </a:p>
          <a:p>
            <a:pPr algn="l">
              <a:lnSpc>
                <a:spcPts val="600"/>
              </a:lnSpc>
            </a:pPr>
            <a:r>
              <a:rPr sz="1100" b="0">
                <a:solidFill>
                  <a:srgbClr val="1A2433"/>
                </a:solidFill>
                <a:latin typeface="Calibri"/>
              </a:rPr>
              <a:t>Self-learning retrieval layer. Better every sprint.</a:t>
            </a:r>
          </a:p>
          <a:p>
            <a:pPr algn="l">
              <a:lnSpc>
                <a:spcPts val="600"/>
              </a:lnSpc>
            </a:pPr>
            <a:r>
              <a:rPr sz="1100" b="0">
                <a:solidFill>
                  <a:srgbClr val="1A2433"/>
                </a:solidFill>
                <a:latin typeface="Calibri"/>
              </a:rPr>
              <a:t>Docker-compose or Helm. Live in under a day.</a:t>
            </a:r>
          </a:p>
          <a:p>
            <a:pPr algn="l">
              <a:lnSpc>
                <a:spcPts val="600"/>
              </a:lnSpc>
            </a:pPr>
            <a:r>
              <a:rPr sz="1100" b="0">
                <a:solidFill>
                  <a:srgbClr val="1A2433"/>
                </a:solidFill>
                <a:latin typeface="Calibri"/>
              </a:rPr>
              <a:t>Claude Code, Copilot, Cursor — works with What You Have.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Let's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7BB3F0"/>
                </a:solidFill>
                <a:latin typeface="Calibri"/>
              </a:rPr>
              <a:t>Book a 30-minute discovery call.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3657600"/>
            <a:ext cx="5486400" cy="2377440"/>
          </a:xfrm>
          <a:prstGeom prst="rect">
            <a:avLst/>
          </a:prstGeom>
          <a:solidFill>
            <a:srgbClr val="22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BB3F0"/>
                </a:solidFill>
                <a:latin typeface="Calibri"/>
              </a:rPr>
              <a:t>→  Schedule your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4480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advisory@neuralmind.io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892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CivilSavantCapital.com/book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53035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On-site or virtual · Zero obligation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6400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C75"/>
                </a:solidFill>
                <a:latin typeface="Calibri"/>
              </a:rPr>
              <a:t>Confidential ·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