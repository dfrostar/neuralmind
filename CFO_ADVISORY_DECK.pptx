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084832"/>
            <a:ext cx="502920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 CFO  ADVISORY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95728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AI development spend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compromising velocity or control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cost-optimization and compliance assessment for engineering organizations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5806440"/>
            <a:ext cx="11057839" cy="0"/>
          </a:xfrm>
          <a:prstGeom prst="line">
            <a:avLst/>
          </a:prstGeom>
          <a:noFill/>
          <a:ln w="12700">
            <a:solidFill>
              <a:srgbClr val="2C3E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Office of the CFO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38367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estimated 80% of AI tooling spend is recoverable — with the audit trail your auditors already expect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30552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391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46120" y="2029968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organizations now run AI coding tools across nearly every developer. For a mid-market team this is a six-figure annual line item growing roughly 3× year over year — with no line-item visibility and no audit trail.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108960"/>
            <a:ext cx="11057839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3300984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3200400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that spend is structural waste: full code context is re-sent on every request, so only a fraction of tokens do useful work. Source code also crosses the organization's boundary, creating an unaddressed SOC 2 / ISO 27001 exposure.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4279392"/>
            <a:ext cx="11057839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471416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4370832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NeuralMind's local-first context layer. In a documented 120-engineer deployment this reduced monthly AI spend by 81%, eliminated code egress, and produced a complete audit trail — live in under a day, with payback measured in weeks.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5650992"/>
            <a:ext cx="11057839" cy="0"/>
          </a:xfrm>
          <a:prstGeom prst="rect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5650992"/>
            <a:ext cx="3564026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669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7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04288" y="5669280"/>
            <a:ext cx="16895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monthly AI spend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3834" y="5650992"/>
            <a:ext cx="3564026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4478426" y="5669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7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51194" y="5669280"/>
            <a:ext cx="16895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60741" y="5650992"/>
            <a:ext cx="3564026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5333" y="56692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7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798101" y="5669280"/>
            <a:ext cx="16895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source-code egress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tools have become a material, unmanaged line item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977640" cy="379476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$180K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05256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avoidable AI spend per year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5256" y="39776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mid-market engineering organization — roughly $15K wasted every month before optimization.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2231136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5138928" y="21305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38928" y="25146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re-sends full code context — 5–10× the tokens the task actually requires. Spend scales with headcount, not with value delivered.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3273552"/>
            <a:ext cx="667512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465576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33649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38928" y="37490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line-item view into which teams, languages, or tools consume the budget. Finance sees one aggregate invoice and cannot allocate or forecast 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4507992"/>
            <a:ext cx="667512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4700016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45994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4983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source code leaves the organization's perimeter with no audit trail — a SOC 2 / ISO 27001 finding waiting to surface.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is universal; financial control has not kept pace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3503066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697480"/>
            <a:ext cx="109728" cy="10972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880360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59536" y="39136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use AI coding tools daily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455371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no longer optional — it is embedded in the standard engineering workflow.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4314" y="2331720"/>
            <a:ext cx="3503066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922" y="2697480"/>
            <a:ext cx="109728" cy="10972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/>
          <p:nvPr/>
        </p:nvSpPr>
        <p:spPr>
          <a:xfrm>
            <a:off x="4618634" y="2880360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36922" y="39136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new code is now AI-generated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922" y="455371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share of output — and cost — flows through tools finance does not yet govern.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1701" y="2331720"/>
            <a:ext cx="3503066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4309" y="2697480"/>
            <a:ext cx="109728" cy="10972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/>
          <p:nvPr/>
        </p:nvSpPr>
        <p:spPr>
          <a:xfrm>
            <a:off x="8396021" y="2880360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414309" y="39136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token cost increase, year over year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4309" y="455371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compounding faster than most annual software budgets anticipate.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5715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Stack Overflow Developer Survey 2024; GitHub Octoverse 2024.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code intelligence that cuts token spend by 40–70×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460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578608"/>
            <a:ext cx="310896" cy="310896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5603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by design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5256" y="3127248"/>
            <a:ext cx="468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on-premise or in your VPC. Zero code egress — your source never leaves your perimeter.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286000"/>
            <a:ext cx="53460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2578608"/>
            <a:ext cx="310896" cy="310896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01688" y="25603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context reduction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7056" y="3127248"/>
            <a:ext cx="468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self-learning layer sends only what each task needs — roughly 500 tokens in place of 50,000.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251960"/>
            <a:ext cx="53460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4544568"/>
            <a:ext cx="310896" cy="310896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452628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out of the box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05256" y="5093208"/>
            <a:ext cx="468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is logged, timestamped, and auditable — SOC 2 evidence generated automatically.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4251960"/>
            <a:ext cx="53460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4544568"/>
            <a:ext cx="310896" cy="310896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01688" y="452628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stack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17056" y="5093208"/>
            <a:ext cx="468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using Claude Code, Copilot, Cursor and Windsurf. NeuralMind enhances the tools your teams already run.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self-learning retrieval layer between your engineers and their AI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514600"/>
            <a:ext cx="566928" cy="566928"/>
          </a:xfrm>
          <a:prstGeom prst="ellipse">
            <a:avLst/>
          </a:prstGeom>
          <a:solidFill>
            <a:srgbClr val="0B1E3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2798064"/>
            <a:ext cx="2010080" cy="0"/>
          </a:xfrm>
          <a:prstGeom prst="line">
            <a:avLst/>
          </a:prstGeom>
          <a:noFill/>
          <a:ln w="19050">
            <a:solidFill>
              <a:srgbClr val="DDE3E9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66928" y="3383280"/>
            <a:ext cx="255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3813048"/>
            <a:ext cx="255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builds a private, incremental graph of your repositories — functions, types, imports and history.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99968" y="2514600"/>
            <a:ext cx="566928" cy="566928"/>
          </a:xfrm>
          <a:prstGeom prst="ellipse">
            <a:avLst/>
          </a:prstGeom>
          <a:solidFill>
            <a:srgbClr val="0B1E36"/>
          </a:solidFill>
          <a:ln/>
        </p:spPr>
      </p:sp>
      <p:sp>
        <p:nvSpPr>
          <p:cNvPr id="10" name="Text 8"/>
          <p:cNvSpPr/>
          <p:nvPr/>
        </p:nvSpPr>
        <p:spPr>
          <a:xfrm>
            <a:off x="339996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3200" y="2798064"/>
            <a:ext cx="2010080" cy="0"/>
          </a:xfrm>
          <a:prstGeom prst="line">
            <a:avLst/>
          </a:prstGeom>
          <a:noFill/>
          <a:ln w="19050">
            <a:solidFill>
              <a:srgbClr val="DDE3E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99968" y="3383280"/>
            <a:ext cx="255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99968" y="3813048"/>
            <a:ext cx="255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tool asks only for what it needs. The synapse layer matches the request against the graph — no full context re-sent.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3008" y="2514600"/>
            <a:ext cx="566928" cy="566928"/>
          </a:xfrm>
          <a:prstGeom prst="ellipse">
            <a:avLst/>
          </a:prstGeom>
          <a:solidFill>
            <a:srgbClr val="0B1E36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46240" y="2798064"/>
            <a:ext cx="2010080" cy="0"/>
          </a:xfrm>
          <a:prstGeom prst="line">
            <a:avLst/>
          </a:prstGeom>
          <a:noFill/>
          <a:ln w="19050">
            <a:solidFill>
              <a:srgbClr val="DDE3E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33008" y="3383280"/>
            <a:ext cx="255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33008" y="3813048"/>
            <a:ext cx="255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relevant 200–1,000 tokens reach your AI — never the whole repository or the full conversation history.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66047" y="2514600"/>
            <a:ext cx="566928" cy="566928"/>
          </a:xfrm>
          <a:prstGeom prst="ellipse">
            <a:avLst/>
          </a:prstGeom>
          <a:solidFill>
            <a:srgbClr val="0B1E36"/>
          </a:solidFill>
          <a:ln/>
        </p:spPr>
      </p:sp>
      <p:sp>
        <p:nvSpPr>
          <p:cNvPr id="20" name="Text 18"/>
          <p:cNvSpPr/>
          <p:nvPr/>
        </p:nvSpPr>
        <p:spPr>
          <a:xfrm>
            <a:off x="9066047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66047" y="3383280"/>
            <a:ext cx="255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66047" y="3813048"/>
            <a:ext cx="255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feedback loop turns every developer correction into a signal, so retrieval gets sharper with each sprint.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532120"/>
            <a:ext cx="11057839" cy="658368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5321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tools your engineers already use, delivering the same output on a fraction of the tokens — and none of the code leaving your walls.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source code never leaves your perimeter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6720840" cy="2788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328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PERIMETER  ·  ON-PREM / VPC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3044952"/>
            <a:ext cx="181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044952"/>
            <a:ext cx="1813560" cy="9144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3337560"/>
            <a:ext cx="153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39776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history, dependencies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09672" y="3749040"/>
            <a:ext cx="256032" cy="0"/>
          </a:xfrm>
          <a:prstGeom prst="line">
            <a:avLst/>
          </a:prstGeom>
          <a:noFill/>
          <a:ln w="19050">
            <a:solidFill>
              <a:srgbClr val="0B1E3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0568" y="3044952"/>
            <a:ext cx="181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0568" y="3044952"/>
            <a:ext cx="1813560" cy="9144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13" name="Text 11"/>
          <p:cNvSpPr/>
          <p:nvPr/>
        </p:nvSpPr>
        <p:spPr>
          <a:xfrm>
            <a:off x="3157728" y="3337560"/>
            <a:ext cx="153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code graph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57728" y="39776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incremental index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88992" y="3749040"/>
            <a:ext cx="256032" cy="0"/>
          </a:xfrm>
          <a:prstGeom prst="line">
            <a:avLst/>
          </a:prstGeom>
          <a:noFill/>
          <a:ln w="19050">
            <a:solidFill>
              <a:srgbClr val="0B1E3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99888" y="3044952"/>
            <a:ext cx="181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9888" y="3044952"/>
            <a:ext cx="1813560" cy="9144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18" name="Text 16"/>
          <p:cNvSpPr/>
          <p:nvPr/>
        </p:nvSpPr>
        <p:spPr>
          <a:xfrm>
            <a:off x="5337048" y="3337560"/>
            <a:ext cx="153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7048" y="39776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what a task needs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461772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zone is transmitted externally — the index and synapse layer run entirely on your infrastructure.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0" y="2286000"/>
            <a:ext cx="0" cy="2880360"/>
          </a:xfrm>
          <a:prstGeom prst="line">
            <a:avLst/>
          </a:prstGeom>
          <a:noFill/>
          <a:ln w="15875">
            <a:solidFill>
              <a:srgbClr val="6A768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306056" y="3726180"/>
            <a:ext cx="777240" cy="0"/>
          </a:xfrm>
          <a:prstGeom prst="line">
            <a:avLst/>
          </a:prstGeom>
          <a:noFill/>
          <a:ln w="3175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56448" y="2331720"/>
            <a:ext cx="3468319" cy="278892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5328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TOOL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862072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Copilot · Cursor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338328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200–1,000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412480" y="402336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of relevant context — and nothing more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544568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this arrow represents leaves your network — no repository, no file, no conversation history.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440680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58384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5687568"/>
            <a:ext cx="33201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timestamped audit trail generated automatically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4314" y="5440680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3" name="Text 31"/>
          <p:cNvSpPr/>
          <p:nvPr/>
        </p:nvSpPr>
        <p:spPr>
          <a:xfrm>
            <a:off x="4563770" y="5358384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44314" y="5687568"/>
            <a:ext cx="33201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data-flow controls kept within your boundary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21701" y="5440680"/>
            <a:ext cx="100584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6" name="Text 34"/>
          <p:cNvSpPr/>
          <p:nvPr/>
        </p:nvSpPr>
        <p:spPr>
          <a:xfrm>
            <a:off x="8341157" y="5358384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21701" y="5687568"/>
            <a:ext cx="33201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index never leave your chosen region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outcome — a 120-person engineering organization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04088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50208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44768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NeuralMind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76488" y="228600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11057839" cy="0"/>
          </a:xfrm>
          <a:prstGeom prst="line">
            <a:avLst/>
          </a:prstGeom>
          <a:noFill/>
          <a:ln w="19050">
            <a:solidFill>
              <a:srgbClr val="0B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2816352"/>
            <a:ext cx="2194560" cy="786384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816352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AI spend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50208" y="281635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44768" y="281635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76488" y="2816352"/>
            <a:ext cx="31025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reduction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11057839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44768" y="3602736"/>
            <a:ext cx="2194560" cy="786384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602736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50208" y="3602736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44768" y="3602736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76488" y="3602736"/>
            <a:ext cx="31025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now productive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4389120"/>
            <a:ext cx="2194560" cy="786384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38912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Source-code egress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50208" y="438912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44768" y="438912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76488" y="4389120"/>
            <a:ext cx="31025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air-gapped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5175504"/>
            <a:ext cx="11057839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5175504"/>
            <a:ext cx="2194560" cy="786384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5175504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50208" y="517550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44768" y="517550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476488" y="5175504"/>
            <a:ext cx="31025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“Saved a 200-engineer org $2.4M per year in AI spend without sacrificing output.”  </a:t>
            </a:r>
            <a:pPr indent="0" marL="0">
              <a:buNone/>
            </a:pPr>
            <a:r>
              <a:rPr lang="en-US" sz="135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CTO, $400M SaaS client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engage, scaled to your stage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3472586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551176"/>
            <a:ext cx="288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935224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$35K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59536" y="3611880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Fixed-scope diagnostic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3995928"/>
            <a:ext cx="288737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4206240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14800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audit &amp; token-spend 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4736592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645152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report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5266944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5175504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 with ROI projection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9554" y="2240280"/>
            <a:ext cx="3472586" cy="361188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9554" y="2496312"/>
            <a:ext cx="3472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52162" y="2807208"/>
            <a:ext cx="288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52162" y="3191256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$55K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4652162" y="3867912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Single-team proof of value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52162" y="4251960"/>
            <a:ext cx="2887370" cy="0"/>
          </a:xfrm>
          <a:prstGeom prst="line">
            <a:avLst/>
          </a:prstGeom>
          <a:noFill/>
          <a:ln w="12700">
            <a:solidFill>
              <a:srgbClr val="2C3E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0450" y="4462272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2" name="Text 20"/>
          <p:cNvSpPr/>
          <p:nvPr/>
        </p:nvSpPr>
        <p:spPr>
          <a:xfrm>
            <a:off x="4871618" y="4370832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4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NeuralMind deployment (1 team)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70450" y="4992624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/>
          <p:nvPr/>
        </p:nvSpPr>
        <p:spPr>
          <a:xfrm>
            <a:off x="4871618" y="4901184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4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synapse-layer tuning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70450" y="5522976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6" name="Text 24"/>
          <p:cNvSpPr/>
          <p:nvPr/>
        </p:nvSpPr>
        <p:spPr>
          <a:xfrm>
            <a:off x="4871618" y="5431536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D4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plan &amp; success metrics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52181" y="2240280"/>
            <a:ext cx="3472586" cy="3611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44789" y="2551176"/>
            <a:ext cx="288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44789" y="2935224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$85K / yr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8444789" y="3611880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rollout &amp; assurance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44789" y="3995928"/>
            <a:ext cx="288737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3077" y="4206240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3" name="Text 31"/>
          <p:cNvSpPr/>
          <p:nvPr/>
        </p:nvSpPr>
        <p:spPr>
          <a:xfrm>
            <a:off x="8664245" y="4114800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Organization-wide deployment &amp; support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63077" y="4736592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5" name="Text 33"/>
          <p:cNvSpPr/>
          <p:nvPr/>
        </p:nvSpPr>
        <p:spPr>
          <a:xfrm>
            <a:off x="8664245" y="4645152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audit-trail dashboard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63077" y="5266944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7" name="Text 35"/>
          <p:cNvSpPr/>
          <p:nvPr/>
        </p:nvSpPr>
        <p:spPr>
          <a:xfrm>
            <a:off x="8664245" y="5175504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cost-optimization reviews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5943600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return: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documented 81% reduction, a mid-market org saving ~$34K/month recoups the Enterprise annual fee in roughly one quarter. Assessment fees credit toward any deployment that follows.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NEURALMIND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Practitioner-led, production-proven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2120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651760"/>
            <a:ext cx="914400" cy="914400"/>
          </a:xfrm>
          <a:prstGeom prst="ellipse">
            <a:avLst/>
          </a:prstGeom>
          <a:solidFill>
            <a:srgbClr val="0B1E3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29968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Advisory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29968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Cost-Optimization &amp; Compliance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3931920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" y="3840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of engineering and platform leadership at a TSX-listed SaaS company.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4535424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144" y="44439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NeuralMind from an internal tool into a production, open-source product.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" y="5138928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50474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engineering leaders on AI spend, retrieval architecture and compliance.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62472" y="2286000"/>
            <a:ext cx="5577840" cy="356616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NeuralMind product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145536"/>
            <a:ext cx="91440" cy="914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0540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3467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0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Apache-2.0, self-hosted — full control of your data and deployment.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82512" y="3813048"/>
            <a:ext cx="91440" cy="914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21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continuously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014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0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self-learning retrieval layer that gets better every sprint.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82512" y="4480560"/>
            <a:ext cx="91440" cy="914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389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stand up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0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 Helm — in production in under a day.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82512" y="5148072"/>
            <a:ext cx="91440" cy="914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056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Stack-native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0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 Code, Copilot and Cursor — no workflow change.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02920" cy="10058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148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a fixed-scope assessment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340156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diagnostic that baselines your AI spend, quantifies the recoverable waste, and delivers an ROI-backed roadmap. Fees credit toward any deployment that follows.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11057839" cy="0"/>
          </a:xfrm>
          <a:prstGeom prst="line">
            <a:avLst/>
          </a:prstGeom>
          <a:noFill/>
          <a:ln w="12700">
            <a:solidFill>
              <a:srgbClr val="2C3E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Schedule your call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advisory@neuralmind.io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or virtual  ·  Zero obligation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8367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  · 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BASIS OF ESTIMATE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arrive at the ~80% figure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120-engineer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670048"/>
            <a:ext cx="6400800" cy="0"/>
          </a:xfrm>
          <a:prstGeom prst="line">
            <a:avLst/>
          </a:prstGeom>
          <a:noFill/>
          <a:ln w="19050">
            <a:solidFill>
              <a:srgbClr val="0B1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2715768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monthly AI spend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07408" y="2715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282696"/>
            <a:ext cx="640080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282696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 — before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07408" y="328269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productive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3849624"/>
            <a:ext cx="640080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849624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 — after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07408" y="38496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productive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416552"/>
            <a:ext cx="640080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4416552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reduction per request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07408" y="44165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40–70× fewer tokens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40080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4983480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— after deployment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07408" y="49834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550408"/>
            <a:ext cx="6400800" cy="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550408"/>
            <a:ext cx="6400800" cy="566928"/>
          </a:xfrm>
          <a:prstGeom prst="rect">
            <a:avLst/>
          </a:prstGeom>
          <a:solidFill>
            <a:srgbClr val="EAF3D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5550408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07408" y="55504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4E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$34K  (81%)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452360" y="2286000"/>
            <a:ext cx="4172407" cy="196596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25" name="Text 23"/>
          <p:cNvSpPr/>
          <p:nvPr/>
        </p:nvSpPr>
        <p:spPr>
          <a:xfrm>
            <a:off x="7744968" y="2560320"/>
            <a:ext cx="3587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AT THIS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2889504"/>
            <a:ext cx="36237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month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744968" y="3730752"/>
            <a:ext cx="3587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 assessment against ~$34K recovered every month.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4480560"/>
            <a:ext cx="4172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the estimate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4873752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0" name="Text 28"/>
          <p:cNvSpPr/>
          <p:nvPr/>
        </p:nvSpPr>
        <p:spPr>
          <a:xfrm>
            <a:off x="7653528" y="4782312"/>
            <a:ext cx="397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drawn from a documented client deployment, not a model.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5440680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2" name="Text 30"/>
          <p:cNvSpPr/>
          <p:nvPr/>
        </p:nvSpPr>
        <p:spPr>
          <a:xfrm>
            <a:off x="7653528" y="5349240"/>
            <a:ext cx="397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with repository size, tool mix and usage patterns.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52360" y="6007608"/>
            <a:ext cx="82296" cy="8229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4" name="Text 32"/>
          <p:cNvSpPr/>
          <p:nvPr/>
        </p:nvSpPr>
        <p:spPr>
          <a:xfrm>
            <a:off x="7653528" y="5916168"/>
            <a:ext cx="397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the ~80% reduction as a conservative planning figure.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NeuralMind CFO Advisory  ·  Strictly private &amp;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2026-07-11T21:09:24Z</dcterms:created>
  <dcterms:modified xsi:type="dcterms:W3CDTF">2026-07-11T21:09:24Z</dcterms:modified>
</cp:coreProperties>
</file>